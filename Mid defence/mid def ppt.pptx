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11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8" r:id="rId8"/>
    <p:sldId id="271" r:id="rId9"/>
    <p:sldId id="269" r:id="rId10"/>
    <p:sldId id="270" r:id="rId11"/>
    <p:sldId id="261" r:id="rId12"/>
    <p:sldId id="262" r:id="rId13"/>
    <p:sldId id="263" r:id="rId14"/>
    <p:sldId id="264" r:id="rId15"/>
    <p:sldId id="265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74" autoAdjust="0"/>
  </p:normalViewPr>
  <p:slideViewPr>
    <p:cSldViewPr snapToGrid="0" snapToObjects="1">
      <p:cViewPr varScale="1">
        <p:scale>
          <a:sx n="87" d="100"/>
          <a:sy n="87" d="100"/>
        </p:scale>
        <p:origin x="133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23EC31-0C95-4C93-BACD-62EE6C320C1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11E2CB-FFE2-4B4A-A272-0A090DAC7384}">
      <dgm:prSet custT="1"/>
      <dgm:spPr/>
      <dgm:t>
        <a:bodyPr/>
        <a:lstStyle/>
        <a:p>
          <a:pPr rtl="0"/>
          <a:r>
            <a:rPr lang="en-US" sz="44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FAKE NEWS DETECTIONS</a:t>
          </a:r>
          <a:endParaRPr lang="en-US" sz="4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F41E9C-8CA3-4442-8732-522B0EB37A52}" type="parTrans" cxnId="{9F1C8197-BF76-44B5-8A5C-C68ACC6F4364}">
      <dgm:prSet/>
      <dgm:spPr/>
      <dgm:t>
        <a:bodyPr/>
        <a:lstStyle/>
        <a:p>
          <a:endParaRPr lang="en-US"/>
        </a:p>
      </dgm:t>
    </dgm:pt>
    <dgm:pt modelId="{8C0C8E93-3613-4E76-B08D-BCE6FA804429}" type="sibTrans" cxnId="{9F1C8197-BF76-44B5-8A5C-C68ACC6F4364}">
      <dgm:prSet/>
      <dgm:spPr/>
      <dgm:t>
        <a:bodyPr/>
        <a:lstStyle/>
        <a:p>
          <a:endParaRPr lang="en-US"/>
        </a:p>
      </dgm:t>
    </dgm:pt>
    <dgm:pt modelId="{5C1D18D8-D0C5-4406-B687-BBBDA415FF0D}" type="pres">
      <dgm:prSet presAssocID="{F623EC31-0C95-4C93-BACD-62EE6C320C1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EE3CBD-9F24-485C-B8C9-46B0EAE8DC3C}" type="pres">
      <dgm:prSet presAssocID="{1A11E2CB-FFE2-4B4A-A272-0A090DAC7384}" presName="linNode" presStyleCnt="0"/>
      <dgm:spPr/>
    </dgm:pt>
    <dgm:pt modelId="{07A31060-1A22-422E-8CFF-43A38462F7D1}" type="pres">
      <dgm:prSet presAssocID="{1A11E2CB-FFE2-4B4A-A272-0A090DAC7384}" presName="parentText" presStyleLbl="node1" presStyleIdx="0" presStyleCnt="1" custScaleX="18858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1C8197-BF76-44B5-8A5C-C68ACC6F4364}" srcId="{F623EC31-0C95-4C93-BACD-62EE6C320C18}" destId="{1A11E2CB-FFE2-4B4A-A272-0A090DAC7384}" srcOrd="0" destOrd="0" parTransId="{42F41E9C-8CA3-4442-8732-522B0EB37A52}" sibTransId="{8C0C8E93-3613-4E76-B08D-BCE6FA804429}"/>
    <dgm:cxn modelId="{A84B1D7A-53E1-480A-B508-3FEDEFEFC78D}" type="presOf" srcId="{1A11E2CB-FFE2-4B4A-A272-0A090DAC7384}" destId="{07A31060-1A22-422E-8CFF-43A38462F7D1}" srcOrd="0" destOrd="0" presId="urn:microsoft.com/office/officeart/2005/8/layout/vList5"/>
    <dgm:cxn modelId="{9E9D5BF6-6D59-48A8-8694-EB525653AC58}" type="presOf" srcId="{F623EC31-0C95-4C93-BACD-62EE6C320C18}" destId="{5C1D18D8-D0C5-4406-B687-BBBDA415FF0D}" srcOrd="0" destOrd="0" presId="urn:microsoft.com/office/officeart/2005/8/layout/vList5"/>
    <dgm:cxn modelId="{4F2FE312-A8DC-4E09-8A68-1F1BF986739C}" type="presParOf" srcId="{5C1D18D8-D0C5-4406-B687-BBBDA415FF0D}" destId="{B1EE3CBD-9F24-485C-B8C9-46B0EAE8DC3C}" srcOrd="0" destOrd="0" presId="urn:microsoft.com/office/officeart/2005/8/layout/vList5"/>
    <dgm:cxn modelId="{5D2800A7-F266-4875-B784-3627AB4F7591}" type="presParOf" srcId="{B1EE3CBD-9F24-485C-B8C9-46B0EAE8DC3C}" destId="{07A31060-1A22-422E-8CFF-43A38462F7D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4F9B14-818B-4BED-9EDF-159F9BDEAF3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CDB76D-865A-487C-A727-A11F31EBAF89}">
      <dgm:prSet/>
      <dgm:spPr/>
      <dgm:t>
        <a:bodyPr/>
        <a:lstStyle/>
        <a:p>
          <a:pPr rtl="0"/>
          <a:r>
            <a:rPr lang="en-US" b="1" smtClean="0"/>
            <a:t>Thank You</a:t>
          </a:r>
          <a:endParaRPr lang="en-US"/>
        </a:p>
      </dgm:t>
    </dgm:pt>
    <dgm:pt modelId="{D2675A03-A495-4ACD-B719-C1BB9FC20ED8}" type="parTrans" cxnId="{334538AC-BCB1-49A8-99FD-F318B52BB200}">
      <dgm:prSet/>
      <dgm:spPr/>
      <dgm:t>
        <a:bodyPr/>
        <a:lstStyle/>
        <a:p>
          <a:endParaRPr lang="en-US"/>
        </a:p>
      </dgm:t>
    </dgm:pt>
    <dgm:pt modelId="{D00BC69D-3DC0-46AC-9DBA-6621236EB6B0}" type="sibTrans" cxnId="{334538AC-BCB1-49A8-99FD-F318B52BB200}">
      <dgm:prSet/>
      <dgm:spPr/>
      <dgm:t>
        <a:bodyPr/>
        <a:lstStyle/>
        <a:p>
          <a:endParaRPr lang="en-US"/>
        </a:p>
      </dgm:t>
    </dgm:pt>
    <dgm:pt modelId="{78293593-644A-4E16-BDCA-84A09E2C8308}" type="pres">
      <dgm:prSet presAssocID="{E84F9B14-818B-4BED-9EDF-159F9BDEAF3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F8A6BC-5B65-4912-B141-299DDF91BD65}" type="pres">
      <dgm:prSet presAssocID="{C8CDB76D-865A-487C-A727-A11F31EBAF89}" presName="composite" presStyleCnt="0"/>
      <dgm:spPr/>
    </dgm:pt>
    <dgm:pt modelId="{052938FB-0EAD-4736-B1B1-746B9134D183}" type="pres">
      <dgm:prSet presAssocID="{C8CDB76D-865A-487C-A727-A11F31EBAF89}" presName="imgShp" presStyleLbl="fgImgPlace1" presStyleIdx="0" presStyleCnt="1"/>
      <dgm:spPr/>
    </dgm:pt>
    <dgm:pt modelId="{951E4B55-48E4-43B4-896E-030919BBA17A}" type="pres">
      <dgm:prSet presAssocID="{C8CDB76D-865A-487C-A727-A11F31EBAF89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BEAD948-CD08-4391-ACC7-FAD37FC036BF}" type="presOf" srcId="{C8CDB76D-865A-487C-A727-A11F31EBAF89}" destId="{951E4B55-48E4-43B4-896E-030919BBA17A}" srcOrd="0" destOrd="0" presId="urn:microsoft.com/office/officeart/2005/8/layout/vList3"/>
    <dgm:cxn modelId="{37A1AE61-6BD8-4C2C-B55A-E9CBD0785665}" type="presOf" srcId="{E84F9B14-818B-4BED-9EDF-159F9BDEAF36}" destId="{78293593-644A-4E16-BDCA-84A09E2C8308}" srcOrd="0" destOrd="0" presId="urn:microsoft.com/office/officeart/2005/8/layout/vList3"/>
    <dgm:cxn modelId="{334538AC-BCB1-49A8-99FD-F318B52BB200}" srcId="{E84F9B14-818B-4BED-9EDF-159F9BDEAF36}" destId="{C8CDB76D-865A-487C-A727-A11F31EBAF89}" srcOrd="0" destOrd="0" parTransId="{D2675A03-A495-4ACD-B719-C1BB9FC20ED8}" sibTransId="{D00BC69D-3DC0-46AC-9DBA-6621236EB6B0}"/>
    <dgm:cxn modelId="{4097614D-A95E-48DC-B714-514B73DDB61A}" type="presParOf" srcId="{78293593-644A-4E16-BDCA-84A09E2C8308}" destId="{5BF8A6BC-5B65-4912-B141-299DDF91BD65}" srcOrd="0" destOrd="0" presId="urn:microsoft.com/office/officeart/2005/8/layout/vList3"/>
    <dgm:cxn modelId="{D7260BA4-3B00-43DF-A2E9-13C3C1F468F9}" type="presParOf" srcId="{5BF8A6BC-5B65-4912-B141-299DDF91BD65}" destId="{052938FB-0EAD-4736-B1B1-746B9134D183}" srcOrd="0" destOrd="0" presId="urn:microsoft.com/office/officeart/2005/8/layout/vList3"/>
    <dgm:cxn modelId="{3A0C7175-553D-4EA3-ABED-7C9A9DA399FD}" type="presParOf" srcId="{5BF8A6BC-5B65-4912-B141-299DDF91BD65}" destId="{951E4B55-48E4-43B4-896E-030919BBA17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31060-1A22-422E-8CFF-43A38462F7D1}">
      <dsp:nvSpPr>
        <dsp:cNvPr id="0" name=""/>
        <dsp:cNvSpPr/>
      </dsp:nvSpPr>
      <dsp:spPr>
        <a:xfrm>
          <a:off x="1063871" y="1685"/>
          <a:ext cx="4498726" cy="34490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FAKE NEWS DETECTIONS</a:t>
          </a:r>
          <a:endParaRPr lang="en-US" sz="4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2241" y="170055"/>
        <a:ext cx="4161986" cy="31123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E4B55-48E4-43B4-896E-030919BBA17A}">
      <dsp:nvSpPr>
        <dsp:cNvPr id="0" name=""/>
        <dsp:cNvSpPr/>
      </dsp:nvSpPr>
      <dsp:spPr>
        <a:xfrm rot="10800000">
          <a:off x="1393442" y="0"/>
          <a:ext cx="4221229" cy="132080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2436" tIns="182880" rIns="341376" bIns="182880" numCol="1" spcCol="1270" anchor="ctr" anchorCtr="0">
          <a:noAutofit/>
        </a:bodyPr>
        <a:lstStyle/>
        <a:p>
          <a:pPr lvl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b="1" kern="1200" smtClean="0"/>
            <a:t>Thank You</a:t>
          </a:r>
          <a:endParaRPr lang="en-US" sz="4800" kern="1200"/>
        </a:p>
      </dsp:txBody>
      <dsp:txXfrm rot="10800000">
        <a:off x="1723642" y="0"/>
        <a:ext cx="3891029" cy="1320800"/>
      </dsp:txXfrm>
    </dsp:sp>
    <dsp:sp modelId="{052938FB-0EAD-4736-B1B1-746B9134D183}">
      <dsp:nvSpPr>
        <dsp:cNvPr id="0" name=""/>
        <dsp:cNvSpPr/>
      </dsp:nvSpPr>
      <dsp:spPr>
        <a:xfrm>
          <a:off x="733042" y="0"/>
          <a:ext cx="1320800" cy="13208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8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5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6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6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3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5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5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2949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55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0127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92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57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5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8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c.europa.eu/newsroom/dae/document.cfm?doc_id=54454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472905019"/>
              </p:ext>
            </p:extLst>
          </p:nvPr>
        </p:nvGraphicFramePr>
        <p:xfrm>
          <a:off x="750276" y="1611923"/>
          <a:ext cx="6626470" cy="3452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159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digital age, news spreads quickly via social media, blogs, and online platforms.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Alongside fast information access, the spread of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news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become a major issue.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news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Deliberately false or misleading information presented as legitimate news.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influence public perception, cause panic, and erode trust in media.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news and social media have grown exponentially, making it harder to distinguish real news from fake news.</a:t>
            </a:r>
          </a:p>
          <a:p>
            <a:pPr algn="just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rapidly, influencing elections, causing unrest, and affecting public health.</a:t>
            </a:r>
          </a:p>
          <a:p>
            <a:pPr algn="just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general public finds it challenging to verify the authenticity of online content.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machine learning-based system to automatically detect fake news from text data.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effectiveness of multiple algorithms like Logistic Regression, Naive Bayes, and Random Forest in classifying news.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system’s accuracy and reliability using standard performance metrics.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2123"/>
            <a:ext cx="8229600" cy="5175504"/>
          </a:xfrm>
        </p:spPr>
        <p:txBody>
          <a:bodyPr>
            <a:noAutofit/>
          </a:bodyPr>
          <a:lstStyle/>
          <a:p>
            <a:pPr algn="just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meth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2998"/>
            <a:ext cx="7473820" cy="4936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527" y="1"/>
            <a:ext cx="7546850" cy="1098564"/>
          </a:xfrm>
        </p:spPr>
        <p:txBody>
          <a:bodyPr>
            <a:normAutofit/>
          </a:bodyPr>
          <a:lstStyle/>
          <a:p>
            <a:pPr algn="l"/>
            <a:r>
              <a:rPr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Use-Case Diagram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3143" y="1203649"/>
            <a:ext cx="7809722" cy="5654350"/>
          </a:xfrm>
        </p:spPr>
        <p:txBody>
          <a:bodyPr>
            <a:normAutofit/>
          </a:bodyPr>
          <a:lstStyle/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1283677"/>
            <a:ext cx="4825397" cy="5369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708" y="2160588"/>
            <a:ext cx="2823020" cy="3881437"/>
          </a:xfrm>
        </p:spPr>
      </p:pic>
    </p:spTree>
    <p:extLst>
      <p:ext uri="{BB962C8B-B14F-4D97-AF65-F5344CB8AC3E}">
        <p14:creationId xmlns:p14="http://schemas.microsoft.com/office/powerpoint/2010/main" val="4232159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Diagram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430" y="2277209"/>
            <a:ext cx="5303777" cy="2981386"/>
          </a:xfrm>
        </p:spPr>
      </p:pic>
    </p:spTree>
    <p:extLst>
      <p:ext uri="{BB962C8B-B14F-4D97-AF65-F5344CB8AC3E}">
        <p14:creationId xmlns:p14="http://schemas.microsoft.com/office/powerpoint/2010/main" val="1971058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354" y="2160588"/>
            <a:ext cx="3095319" cy="3881437"/>
          </a:xfrm>
        </p:spPr>
      </p:pic>
    </p:spTree>
    <p:extLst>
      <p:ext uri="{BB962C8B-B14F-4D97-AF65-F5344CB8AC3E}">
        <p14:creationId xmlns:p14="http://schemas.microsoft.com/office/powerpoint/2010/main" val="3542640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5" y="2160588"/>
            <a:ext cx="5765902" cy="3881437"/>
          </a:xfrm>
        </p:spPr>
      </p:pic>
    </p:spTree>
    <p:extLst>
      <p:ext uri="{BB962C8B-B14F-4D97-AF65-F5344CB8AC3E}">
        <p14:creationId xmlns:p14="http://schemas.microsoft.com/office/powerpoint/2010/main" val="4180013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468" y="222739"/>
            <a:ext cx="6347713" cy="1320800"/>
          </a:xfrm>
        </p:spPr>
        <p:txBody>
          <a:bodyPr/>
          <a:lstStyle/>
          <a:p>
            <a:r>
              <a:rPr lang="en-US" dirty="0" smtClean="0"/>
              <a:t>Activity Diagram</a:t>
            </a:r>
            <a:endParaRPr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63" y="1543539"/>
            <a:ext cx="5068197" cy="474448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5269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Details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47473" y="1024456"/>
            <a:ext cx="6695166" cy="433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 bmk="_Toc198247865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Logistic Regression</a:t>
            </a:r>
            <a:endParaRPr kumimoji="0" lang="en-US" altLang="en-US" sz="2000" b="1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Preprocess dataset: clean text, remove </a:t>
            </a:r>
            <a:r>
              <a:rPr lang="en-US" altLang="en-US" sz="2000" dirty="0" smtClean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 words</a:t>
            </a:r>
            <a:r>
              <a:rPr lang="en-US" altLang="en-US" sz="2000" dirty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tokenize, convert to numeric features (e.g., TF-IDF</a:t>
            </a:r>
            <a:r>
              <a:rPr lang="en-US" altLang="en-US" sz="2000" dirty="0" smtClean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altLang="en-US" sz="2000" dirty="0" bmk="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Split dataset into training and testing sets</a:t>
            </a:r>
            <a:r>
              <a:rPr lang="en-US" altLang="en-US" sz="2000" dirty="0" smtClean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altLang="en-US" sz="2000" dirty="0" bmk="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Apply linear </a:t>
            </a:r>
            <a:r>
              <a:rPr lang="en-US" altLang="en-US" sz="200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equation </a:t>
            </a:r>
            <a:r>
              <a:rPr lang="en-US" altLang="en-US" sz="2000" smtClean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 probabilities (0–1) for each class</a:t>
            </a:r>
            <a:r>
              <a:rPr lang="en-US" altLang="en-US" sz="2000" dirty="0" smtClean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Naive Bayes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 Bayes’ theorem assuming feature independence</a:t>
            </a:r>
            <a:r>
              <a:rPr lang="en-US" altLang="en-US" sz="2000" dirty="0" smtClean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altLang="en-US" sz="2000" dirty="0" bmk="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Features: presence/frequency of words in articles</a:t>
            </a:r>
            <a:r>
              <a:rPr lang="en-US" altLang="en-US" sz="2000" dirty="0" smtClean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altLang="en-US" sz="2000" dirty="0" bmk="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Calculates posterior probability for each class (Real/Fake</a:t>
            </a:r>
            <a:r>
              <a:rPr lang="en-US" altLang="en-US" sz="2000" dirty="0" smtClean="0" bmk="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Random Forest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Builds multiple decision trees on random subsets of data</a:t>
            </a: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tree predicts independently; final output via majority voting..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6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531" y="1145076"/>
            <a:ext cx="6930029" cy="44212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507" y="1527544"/>
            <a:ext cx="6347714" cy="3880773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accurately classify news articles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 using multiple machine learning algorithms.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provide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users to input news text and receive instant predictions.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display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accuracy, precision, recall, and F1 score to evaluate model effectiveness.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89186"/>
            <a:ext cx="6899032" cy="4652178"/>
          </a:xfrm>
        </p:spPr>
        <p:txBody>
          <a:bodyPr>
            <a:noAutofit/>
          </a:bodyPr>
          <a:lstStyle/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J. Conroy, V. L. Rubin, and Y. Chen, "Automatic deception detection: Methods for finding fake news," in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78th Annual Meeting of the Association for Computational Linguistics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2015, pp. 250–255.</a:t>
            </a:r>
          </a:p>
          <a:p>
            <a:pPr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Devlin et al., "BERT: Pre-training of deep bidirectional transformers for language understanding," in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NAACL-HLT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2019, pp. 4171–4186.</a:t>
            </a:r>
          </a:p>
          <a:p>
            <a:pPr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Commission, "Code of Practice on Disinformation," 2018. [Online]. Available: </a:t>
            </a:r>
            <a:r>
              <a:rPr lang="en-US" sz="17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https://ec.europa.eu/newsroom/dae/document.cfm?doc_id=54454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Pérez-Rosas, B. Kleinberg, A.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Lefevre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Mihalcea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"Automatic detection of fake news," in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2018, pp. 3391–3401.</a:t>
            </a:r>
          </a:p>
          <a:p>
            <a:pPr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L. Rubin, N. J. Conroy, Y. Chen, and S. Cornwell, "Fake news or truth? Using satirical cues to detect potentially misleading news," in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Second Workshop on Computational Approaches to Deception Detection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2016, pp. 1–4.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663567815"/>
              </p:ext>
            </p:extLst>
          </p:nvPr>
        </p:nvGraphicFramePr>
        <p:xfrm>
          <a:off x="609599" y="609600"/>
          <a:ext cx="6347714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344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177</TotalTime>
  <Words>547</Words>
  <Application>Microsoft Office PowerPoint</Application>
  <PresentationFormat>On-screen Show (4:3)</PresentationFormat>
  <Paragraphs>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Introduction</vt:lpstr>
      <vt:lpstr>Problem Statement</vt:lpstr>
      <vt:lpstr>Objectives</vt:lpstr>
      <vt:lpstr>Development Methodology</vt:lpstr>
      <vt:lpstr> Use-Case Diagram</vt:lpstr>
      <vt:lpstr>Class Diagram</vt:lpstr>
      <vt:lpstr>Object Diagram </vt:lpstr>
      <vt:lpstr>State Diagram</vt:lpstr>
      <vt:lpstr>Sequence Diagram</vt:lpstr>
      <vt:lpstr>Activity Diagram</vt:lpstr>
      <vt:lpstr>Algorithm Details</vt:lpstr>
      <vt:lpstr>Gantt Chart</vt:lpstr>
      <vt:lpstr>Expected Outcome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/>
  <cp:keywords/>
  <dc:description>generated using python-pptx</dc:description>
  <cp:lastModifiedBy>Hello</cp:lastModifiedBy>
  <cp:revision>42</cp:revision>
  <dcterms:created xsi:type="dcterms:W3CDTF">2013-01-27T09:14:16Z</dcterms:created>
  <dcterms:modified xsi:type="dcterms:W3CDTF">2025-08-15T06:46:09Z</dcterms:modified>
  <cp:category/>
</cp:coreProperties>
</file>